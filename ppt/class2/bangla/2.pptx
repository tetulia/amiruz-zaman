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A42"/>
    <a:srgbClr val="009999"/>
    <a:srgbClr val="3EA5A8"/>
    <a:srgbClr val="33CC33"/>
    <a:srgbClr val="4234FC"/>
    <a:srgbClr val="FF0066"/>
    <a:srgbClr val="0005D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ABEB4-0277-4604-B316-C37BF95B3DE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144E4-4B6D-4532-96CC-521F44969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8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144E4-4B6D-4532-96CC-521F449695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0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9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3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4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4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0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9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4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5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0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8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3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2F643-8042-4BD1-8C4B-B6C776C83BAF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7D67E-6211-4278-8D3B-1E9B6323D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6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9000">
              <a:srgbClr val="FFE5F2"/>
            </a:gs>
            <a:gs pos="93000">
              <a:srgbClr val="FF00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1D0C5F-B994-4373-9B65-47C213D61F2F}"/>
              </a:ext>
            </a:extLst>
          </p:cNvPr>
          <p:cNvSpPr/>
          <p:nvPr/>
        </p:nvSpPr>
        <p:spPr>
          <a:xfrm>
            <a:off x="7005176" y="950337"/>
            <a:ext cx="1521304" cy="2972355"/>
          </a:xfrm>
          <a:prstGeom prst="rect">
            <a:avLst/>
          </a:prstGeom>
          <a:solidFill>
            <a:srgbClr val="BC0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5A20E-1944-4C68-8687-418A86EEC6C5}"/>
              </a:ext>
            </a:extLst>
          </p:cNvPr>
          <p:cNvSpPr/>
          <p:nvPr/>
        </p:nvSpPr>
        <p:spPr>
          <a:xfrm>
            <a:off x="4799637" y="1176762"/>
            <a:ext cx="1521304" cy="2972355"/>
          </a:xfrm>
          <a:prstGeom prst="rect">
            <a:avLst/>
          </a:prstGeom>
          <a:solidFill>
            <a:srgbClr val="0000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A15EC9-E78B-44B2-A036-4D097F908199}"/>
              </a:ext>
            </a:extLst>
          </p:cNvPr>
          <p:cNvSpPr/>
          <p:nvPr/>
        </p:nvSpPr>
        <p:spPr>
          <a:xfrm>
            <a:off x="2470183" y="950337"/>
            <a:ext cx="1521304" cy="2972355"/>
          </a:xfrm>
          <a:prstGeom prst="rect">
            <a:avLst/>
          </a:prstGeom>
          <a:solidFill>
            <a:srgbClr val="BC7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3BE65-D58D-4BA1-9DA2-6A657DADE280}"/>
              </a:ext>
            </a:extLst>
          </p:cNvPr>
          <p:cNvSpPr/>
          <p:nvPr/>
        </p:nvSpPr>
        <p:spPr>
          <a:xfrm rot="296224">
            <a:off x="573127" y="1461071"/>
            <a:ext cx="10106025" cy="20377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4000"/>
                </a:schemeClr>
              </a:gs>
              <a:gs pos="77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50800"/>
          </a:effectLst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4D1435-1527-4CD2-B0DA-08FFF781F9B1}"/>
              </a:ext>
            </a:extLst>
          </p:cNvPr>
          <p:cNvSpPr/>
          <p:nvPr/>
        </p:nvSpPr>
        <p:spPr>
          <a:xfrm>
            <a:off x="1064704" y="839303"/>
            <a:ext cx="485776" cy="496140"/>
          </a:xfrm>
          <a:prstGeom prst="ellipse">
            <a:avLst/>
          </a:prstGeom>
          <a:gradFill>
            <a:gsLst>
              <a:gs pos="0">
                <a:schemeClr val="tx1"/>
              </a:gs>
              <a:gs pos="46000">
                <a:schemeClr val="bg1"/>
              </a:gs>
              <a:gs pos="6800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innerShdw blurRad="63500" dist="2286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B65872-B11C-4C96-A1CB-DF18ED207F3A}"/>
              </a:ext>
            </a:extLst>
          </p:cNvPr>
          <p:cNvSpPr/>
          <p:nvPr/>
        </p:nvSpPr>
        <p:spPr>
          <a:xfrm>
            <a:off x="9166677" y="985486"/>
            <a:ext cx="1521304" cy="2972355"/>
          </a:xfrm>
          <a:prstGeom prst="rect">
            <a:avLst/>
          </a:prstGeom>
          <a:solidFill>
            <a:srgbClr val="2E8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9C8738-D871-46E9-92FF-E0D1EBB5454E}"/>
              </a:ext>
            </a:extLst>
          </p:cNvPr>
          <p:cNvSpPr/>
          <p:nvPr/>
        </p:nvSpPr>
        <p:spPr>
          <a:xfrm>
            <a:off x="499785" y="1000839"/>
            <a:ext cx="10106025" cy="203772"/>
          </a:xfrm>
          <a:prstGeom prst="rect">
            <a:avLst/>
          </a:prstGeom>
          <a:gradFill>
            <a:gsLst>
              <a:gs pos="0">
                <a:schemeClr val="tx1"/>
              </a:gs>
              <a:gs pos="46000">
                <a:schemeClr val="bg1"/>
              </a:gs>
              <a:gs pos="6800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051BB3-4421-47FF-BC85-8C07833E571B}"/>
              </a:ext>
            </a:extLst>
          </p:cNvPr>
          <p:cNvSpPr/>
          <p:nvPr/>
        </p:nvSpPr>
        <p:spPr>
          <a:xfrm>
            <a:off x="10814707" y="985486"/>
            <a:ext cx="195643" cy="222703"/>
          </a:xfrm>
          <a:prstGeom prst="ellipse">
            <a:avLst/>
          </a:prstGeom>
          <a:gradFill>
            <a:gsLst>
              <a:gs pos="0">
                <a:schemeClr val="tx1"/>
              </a:gs>
              <a:gs pos="46000">
                <a:schemeClr val="bg1"/>
              </a:gs>
              <a:gs pos="6800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A0B200-65AC-4204-8D0A-FBD1F42E1166}"/>
              </a:ext>
            </a:extLst>
          </p:cNvPr>
          <p:cNvGrpSpPr/>
          <p:nvPr/>
        </p:nvGrpSpPr>
        <p:grpSpPr>
          <a:xfrm>
            <a:off x="1476124" y="948163"/>
            <a:ext cx="2308296" cy="3429555"/>
            <a:chOff x="1706712" y="1040741"/>
            <a:chExt cx="2308296" cy="342955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30057DBF-46BD-42B5-9699-A5342181088C}"/>
                </a:ext>
              </a:extLst>
            </p:cNvPr>
            <p:cNvSpPr/>
            <p:nvPr/>
          </p:nvSpPr>
          <p:spPr>
            <a:xfrm>
              <a:off x="1706712" y="1040741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gradFill>
              <a:gsLst>
                <a:gs pos="0">
                  <a:srgbClr val="FF9933"/>
                </a:gs>
                <a:gs pos="100000">
                  <a:srgbClr val="FF99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F448AD-53F8-4628-9E18-C66BC582978F}"/>
                </a:ext>
              </a:extLst>
            </p:cNvPr>
            <p:cNvSpPr txBox="1"/>
            <p:nvPr/>
          </p:nvSpPr>
          <p:spPr>
            <a:xfrm>
              <a:off x="2147826" y="1919276"/>
              <a:ext cx="11990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BD" sz="8000" dirty="0">
                  <a:latin typeface="Nikosh" panose="02000000000000000000" pitchFamily="2" charset="0"/>
                  <a:cs typeface="Nikosh" panose="02000000000000000000" pitchFamily="2" charset="0"/>
                </a:rPr>
                <a:t>স্বা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02FDA7-9D98-4606-A67F-11AB94B1329A}"/>
              </a:ext>
            </a:extLst>
          </p:cNvPr>
          <p:cNvGrpSpPr/>
          <p:nvPr/>
        </p:nvGrpSpPr>
        <p:grpSpPr>
          <a:xfrm>
            <a:off x="3935361" y="985486"/>
            <a:ext cx="2308296" cy="3429555"/>
            <a:chOff x="4128111" y="1075889"/>
            <a:chExt cx="2308296" cy="3429555"/>
          </a:xfrm>
        </p:grpSpPr>
        <p:sp>
          <p:nvSpPr>
            <p:cNvPr id="14" name="Freeform: Shape 15">
              <a:extLst>
                <a:ext uri="{FF2B5EF4-FFF2-40B4-BE49-F238E27FC236}">
                  <a16:creationId xmlns:a16="http://schemas.microsoft.com/office/drawing/2014/main" id="{44C5814F-9F00-475C-939D-7EFDE28511D0}"/>
                </a:ext>
              </a:extLst>
            </p:cNvPr>
            <p:cNvSpPr/>
            <p:nvPr/>
          </p:nvSpPr>
          <p:spPr>
            <a:xfrm>
              <a:off x="4128111" y="1075889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gradFill>
              <a:gsLst>
                <a:gs pos="0">
                  <a:srgbClr val="0066FF"/>
                </a:gs>
                <a:gs pos="100000">
                  <a:srgbClr val="3399FF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BBBCBB-880B-453D-9494-3182457668F2}"/>
                </a:ext>
              </a:extLst>
            </p:cNvPr>
            <p:cNvSpPr txBox="1"/>
            <p:nvPr/>
          </p:nvSpPr>
          <p:spPr>
            <a:xfrm>
              <a:off x="4653104" y="1919277"/>
              <a:ext cx="10924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BD" sz="8000" dirty="0">
                  <a:latin typeface="Nikosh" panose="02000000000000000000" pitchFamily="2" charset="0"/>
                  <a:cs typeface="Nikosh" panose="02000000000000000000" pitchFamily="2" charset="0"/>
                </a:rPr>
                <a:t>গ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3442D5-D30E-40D3-ADB7-2B1AE09FD418}"/>
              </a:ext>
            </a:extLst>
          </p:cNvPr>
          <p:cNvGrpSpPr/>
          <p:nvPr/>
        </p:nvGrpSpPr>
        <p:grpSpPr>
          <a:xfrm>
            <a:off x="6307020" y="950337"/>
            <a:ext cx="2308296" cy="3429555"/>
            <a:chOff x="6499770" y="1040740"/>
            <a:chExt cx="2308296" cy="3429555"/>
          </a:xfrm>
        </p:grpSpPr>
        <p:sp>
          <p:nvSpPr>
            <p:cNvPr id="17" name="Freeform: Shape 18">
              <a:extLst>
                <a:ext uri="{FF2B5EF4-FFF2-40B4-BE49-F238E27FC236}">
                  <a16:creationId xmlns:a16="http://schemas.microsoft.com/office/drawing/2014/main" id="{0398051A-C3B2-4267-8798-1458EE97F11C}"/>
                </a:ext>
              </a:extLst>
            </p:cNvPr>
            <p:cNvSpPr/>
            <p:nvPr/>
          </p:nvSpPr>
          <p:spPr>
            <a:xfrm>
              <a:off x="6499770" y="1040740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gradFill>
              <a:gsLst>
                <a:gs pos="0">
                  <a:srgbClr val="FF33CC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7D78E76-7D87-475C-87A7-4C2E549FCB1B}"/>
                </a:ext>
              </a:extLst>
            </p:cNvPr>
            <p:cNvSpPr txBox="1"/>
            <p:nvPr/>
          </p:nvSpPr>
          <p:spPr>
            <a:xfrm>
              <a:off x="7076513" y="1919277"/>
              <a:ext cx="118890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BD" sz="8000" dirty="0">
                  <a:latin typeface="Nikosh" panose="02000000000000000000" pitchFamily="2" charset="0"/>
                  <a:cs typeface="Nikosh" panose="02000000000000000000" pitchFamily="2" charset="0"/>
                </a:rPr>
                <a:t>ত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EDCF32-FC12-4F93-A567-0FF53A73B22D}"/>
              </a:ext>
            </a:extLst>
          </p:cNvPr>
          <p:cNvGrpSpPr/>
          <p:nvPr/>
        </p:nvGrpSpPr>
        <p:grpSpPr>
          <a:xfrm>
            <a:off x="8443048" y="985485"/>
            <a:ext cx="2308296" cy="3429555"/>
            <a:chOff x="8635798" y="1075888"/>
            <a:chExt cx="2308296" cy="3429555"/>
          </a:xfrm>
        </p:grpSpPr>
        <p:sp>
          <p:nvSpPr>
            <p:cNvPr id="20" name="Freeform: Shape 21">
              <a:extLst>
                <a:ext uri="{FF2B5EF4-FFF2-40B4-BE49-F238E27FC236}">
                  <a16:creationId xmlns:a16="http://schemas.microsoft.com/office/drawing/2014/main" id="{630A4DB0-5B92-4548-BAAC-57C74FBDABD4}"/>
                </a:ext>
              </a:extLst>
            </p:cNvPr>
            <p:cNvSpPr/>
            <p:nvPr/>
          </p:nvSpPr>
          <p:spPr>
            <a:xfrm>
              <a:off x="8635798" y="1075888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3B3AFE-90DC-4395-B801-DEB335774502}"/>
                </a:ext>
              </a:extLst>
            </p:cNvPr>
            <p:cNvSpPr txBox="1"/>
            <p:nvPr/>
          </p:nvSpPr>
          <p:spPr>
            <a:xfrm>
              <a:off x="9118366" y="1919276"/>
              <a:ext cx="116985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BD" sz="8000" dirty="0">
                  <a:latin typeface="Nikosh" panose="02000000000000000000" pitchFamily="2" charset="0"/>
                  <a:cs typeface="Nikosh" panose="02000000000000000000" pitchFamily="2" charset="0"/>
                </a:rPr>
                <a:t>ম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159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2410" y="2262403"/>
            <a:ext cx="4663440" cy="137654"/>
          </a:xfrm>
          <a:prstGeom prst="roundRect">
            <a:avLst>
              <a:gd name="adj" fmla="val 43334"/>
            </a:avLst>
          </a:prstGeom>
          <a:solidFill>
            <a:srgbClr val="000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 rot="1983121">
            <a:off x="10422004" y="2287232"/>
            <a:ext cx="169491" cy="130679"/>
          </a:xfrm>
          <a:prstGeom prst="rect">
            <a:avLst/>
          </a:prstGeom>
          <a:solidFill>
            <a:srgbClr val="000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978012" y="5427407"/>
            <a:ext cx="4663440" cy="147484"/>
          </a:xfrm>
          <a:prstGeom prst="roundRect">
            <a:avLst>
              <a:gd name="adj" fmla="val 43334"/>
            </a:avLst>
          </a:prstGeom>
          <a:solidFill>
            <a:srgbClr val="000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 rot="5400000">
            <a:off x="9739090" y="3016536"/>
            <a:ext cx="1645920" cy="137654"/>
          </a:xfrm>
          <a:prstGeom prst="roundRect">
            <a:avLst>
              <a:gd name="adj" fmla="val 43334"/>
            </a:avLst>
          </a:prstGeom>
          <a:solidFill>
            <a:srgbClr val="000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rot="1983121">
            <a:off x="5934989" y="5364177"/>
            <a:ext cx="206722" cy="155960"/>
          </a:xfrm>
          <a:prstGeom prst="rect">
            <a:avLst/>
          </a:prstGeom>
          <a:solidFill>
            <a:srgbClr val="000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 rot="5400000">
            <a:off x="5155052" y="4683104"/>
            <a:ext cx="1645920" cy="137654"/>
          </a:xfrm>
          <a:prstGeom prst="roundRect">
            <a:avLst>
              <a:gd name="adj" fmla="val 43334"/>
            </a:avLst>
          </a:prstGeom>
          <a:solidFill>
            <a:srgbClr val="000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08634" y="2686904"/>
            <a:ext cx="3130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শুচীরা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আলম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85248" y="3231402"/>
            <a:ext cx="2854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সহকারী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শিক্ষক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6682" y="3730112"/>
            <a:ext cx="4016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চকননীকুল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সরঃ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প্রাঃ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বিদ্যালয়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34941" y="4286371"/>
            <a:ext cx="3018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নওগাঁ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সদর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00528" y="4756565"/>
            <a:ext cx="3018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নওগাঁ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10800000">
            <a:off x="10991352" y="2693626"/>
            <a:ext cx="766916" cy="37702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900" dirty="0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‘</a:t>
            </a:r>
            <a:endParaRPr lang="en-US" sz="23900" dirty="0">
              <a:solidFill>
                <a:srgbClr val="0005DE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 rot="10800000">
            <a:off x="10604423" y="2777818"/>
            <a:ext cx="766916" cy="37702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900" dirty="0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‘</a:t>
            </a:r>
            <a:endParaRPr lang="en-US" sz="23900" dirty="0">
              <a:solidFill>
                <a:srgbClr val="0005DE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57488" y="1085397"/>
            <a:ext cx="766916" cy="37702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900" dirty="0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‘</a:t>
            </a:r>
            <a:endParaRPr lang="en-US" sz="23900" dirty="0">
              <a:solidFill>
                <a:srgbClr val="0005DE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3627" y="1030599"/>
            <a:ext cx="766916" cy="37702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900" dirty="0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‘</a:t>
            </a:r>
            <a:endParaRPr lang="en-US" sz="23900" dirty="0">
              <a:solidFill>
                <a:srgbClr val="0005DE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90217" y="260453"/>
            <a:ext cx="36379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 smtClean="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উ</a:t>
            </a:r>
            <a:r>
              <a:rPr lang="en-US" sz="5400" dirty="0" err="1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en-US" sz="5400" dirty="0" err="1" smtClean="0">
                <a:solidFill>
                  <a:srgbClr val="FF006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স্থা</a:t>
            </a:r>
            <a:r>
              <a:rPr lang="en-US" sz="5400" dirty="0" err="1" smtClean="0">
                <a:solidFill>
                  <a:srgbClr val="008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en-US" sz="5400" dirty="0" err="1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না</a:t>
            </a:r>
            <a:r>
              <a:rPr lang="en-US" sz="5400" dirty="0" err="1" smtClean="0">
                <a:solidFill>
                  <a:srgbClr val="FF006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য়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sz="54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33ACA1-94CF-42EE-8C93-F080A751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9" y="3271679"/>
            <a:ext cx="1940806" cy="194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6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75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125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250"/>
                            </p:stCondLst>
                            <p:childTnLst>
                              <p:par>
                                <p:cTn id="2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12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125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750"/>
                            </p:stCondLst>
                            <p:childTnLst>
                              <p:par>
                                <p:cTn id="3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125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7" y="842144"/>
            <a:ext cx="2771786" cy="21720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" y="3963926"/>
            <a:ext cx="3031561" cy="1866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962" y="248764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84996" y="6229661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42658" y="6243212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98803" y="6242871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52639" y="6242975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2016" y="6242872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447748" y="6229662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398211" y="6229662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322260" y="6220345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246309" y="6211705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272153" y="6211704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24797" y="6229661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468550" y="6229661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686954" y="205645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652043" y="206374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54334" y="208840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664737" y="206865"/>
            <a:ext cx="412692" cy="249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564923" y="184136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12736" y="184136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455437" y="178454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404705" y="184158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404037" y="184159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431297" y="178453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412052" y="173482"/>
            <a:ext cx="404363" cy="2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490" y="1092949"/>
            <a:ext cx="3440142" cy="44536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21360" y="1572624"/>
            <a:ext cx="3255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বিষয়ঃ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বাংলা</a:t>
            </a:r>
            <a:endParaRPr lang="en-US" sz="3200" dirty="0">
              <a:solidFill>
                <a:schemeClr val="bg1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39854" y="2284634"/>
            <a:ext cx="3598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শ্রেণিঃ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দ্বিতীয়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sz="3200" dirty="0">
              <a:solidFill>
                <a:schemeClr val="bg1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39854" y="3101165"/>
            <a:ext cx="3682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পাঠঃ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গ্রাম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শহর</a:t>
            </a:r>
            <a:endParaRPr lang="en-US" sz="3200" dirty="0">
              <a:solidFill>
                <a:schemeClr val="bg1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46063" y="3711196"/>
            <a:ext cx="3703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সময়ঃ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৪০মিনিট</a:t>
            </a:r>
            <a:endParaRPr lang="en-US" sz="3200" dirty="0">
              <a:solidFill>
                <a:schemeClr val="bg1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3156" y="4461218"/>
            <a:ext cx="3768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তারিখঃ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০১/০৯২৫ </a:t>
            </a:r>
            <a:r>
              <a:rPr lang="en-US" sz="3200" dirty="0" err="1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খ্রিঃ</a:t>
            </a:r>
            <a:r>
              <a:rPr lang="en-US" sz="3200" dirty="0" smtClean="0">
                <a:solidFill>
                  <a:schemeClr val="bg1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sz="3200" dirty="0">
              <a:solidFill>
                <a:schemeClr val="bg1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98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600"/>
                            </p:stCondLst>
                            <p:childTnLst>
                              <p:par>
                                <p:cTn id="38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875"/>
                            </p:stCondLst>
                            <p:childTnLst>
                              <p:par>
                                <p:cTn id="4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975"/>
                            </p:stCondLst>
                            <p:childTnLst>
                              <p:par>
                                <p:cTn id="5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562354" y="-451183"/>
            <a:ext cx="4623800" cy="3140451"/>
            <a:chOff x="3160392" y="-392860"/>
            <a:chExt cx="4623800" cy="3140451"/>
          </a:xfrm>
        </p:grpSpPr>
        <p:pic>
          <p:nvPicPr>
            <p:cNvPr id="4" name="Picture 2" descr="ছবি সহ 15 হাউস নেম প্লেট ডিজাইনের আইডিয়া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583" y="-392860"/>
              <a:ext cx="4181418" cy="3140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160392" y="645870"/>
              <a:ext cx="4623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i="1" dirty="0" err="1" smtClean="0">
                  <a:solidFill>
                    <a:srgbClr val="FFFF00"/>
                  </a:solidFill>
                  <a:latin typeface="Nikosh" panose="02000000000000000000" pitchFamily="2" charset="0"/>
                  <a:cs typeface="Nikosh" panose="02000000000000000000" pitchFamily="2" charset="0"/>
                </a:rPr>
                <a:t>শিখনফলঃ</a:t>
              </a:r>
              <a:r>
                <a:rPr lang="en-US" sz="4800" i="1" dirty="0" smtClean="0">
                  <a:solidFill>
                    <a:srgbClr val="FFFF00"/>
                  </a:solidFill>
                  <a:latin typeface="NikoshBAN" panose="02000000000000000000" pitchFamily="2" charset="0"/>
                  <a:cs typeface="NikoshBAN" panose="02000000000000000000" pitchFamily="2" charset="0"/>
                </a:rPr>
                <a:t>-</a:t>
              </a:r>
              <a:endParaRPr lang="en-US" sz="4800" i="1" dirty="0">
                <a:solidFill>
                  <a:srgbClr val="FFFF00"/>
                </a:solidFill>
                <a:latin typeface="NikoshBAN" panose="02000000000000000000" pitchFamily="2" charset="0"/>
                <a:cs typeface="NikoshBAN" panose="02000000000000000000" pitchFamily="2" charset="0"/>
              </a:endParaRP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481" y="175"/>
            <a:ext cx="1670304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76525" y="5330258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itchFamily="34" charset="0"/>
              <a:buChar char="•"/>
            </a:pP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সহজ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বাক্য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প্রমিত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বাংলায়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প্রশ্নের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উত্তর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লিখতে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পারবে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।  </a:t>
            </a:r>
            <a:endParaRPr lang="en-US" sz="3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5702" y="2078439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itchFamily="34" charset="0"/>
              <a:buChar char="•"/>
            </a:pP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বাক্য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শুনে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শব্দ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শনাক্ত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করতে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পারবে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dirty="0" smtClean="0">
                <a:latin typeface="NikoshLightBAN" pitchFamily="2" charset="0"/>
                <a:cs typeface="NikoshLightBAN" pitchFamily="2" charset="0"/>
              </a:rPr>
              <a:t>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866983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itchFamily="34" charset="0"/>
              <a:buChar char="•"/>
            </a:pP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গল্প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শুনে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সহজ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প্রশ্নের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উত্তর 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বলতে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পারবে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5702" y="3633956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itchFamily="34" charset="0"/>
              <a:buChar char="•"/>
            </a:pP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শুদ্ধ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স্পষ্টভাবে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শব্দ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বলতে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পারবে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IN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dirty="0" smtClean="0">
                <a:latin typeface="NikoshLightBAN" pitchFamily="2" charset="0"/>
                <a:cs typeface="NikoshLightBAN" pitchFamily="2" charset="0"/>
              </a:rPr>
              <a:t>।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4277" y="4541714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itchFamily="34" charset="0"/>
              <a:buChar char="•"/>
            </a:pP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স্পষ্ট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শুদ্ধভাবে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বাক্য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বলতে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পারবে</a:t>
            </a:r>
            <a:r>
              <a:rPr lang="en-US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 ।</a:t>
            </a:r>
          </a:p>
        </p:txBody>
      </p:sp>
    </p:spTree>
    <p:extLst>
      <p:ext uri="{BB962C8B-B14F-4D97-AF65-F5344CB8AC3E}">
        <p14:creationId xmlns:p14="http://schemas.microsoft.com/office/powerpoint/2010/main" val="408272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67800" y="847006"/>
            <a:ext cx="5237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চলো</a:t>
            </a:r>
            <a:r>
              <a:rPr lang="en-US" sz="4800" dirty="0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800" dirty="0" err="1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একটি</a:t>
            </a:r>
            <a:r>
              <a:rPr lang="en-US" sz="4800" dirty="0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800" dirty="0" err="1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ভিডিও</a:t>
            </a:r>
            <a:r>
              <a:rPr lang="en-US" sz="4800" dirty="0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800" dirty="0" err="1" smtClean="0">
                <a:blipFill>
                  <a:blip r:embed="rId3"/>
                  <a:stretch>
                    <a:fillRect/>
                  </a:stretch>
                </a:blipFill>
                <a:latin typeface="Nikosh" panose="02000000000000000000" pitchFamily="2" charset="0"/>
                <a:cs typeface="Nikosh" panose="02000000000000000000" pitchFamily="2" charset="0"/>
              </a:rPr>
              <a:t>দেখিঃ</a:t>
            </a:r>
            <a:endParaRPr lang="en-US" sz="4800" dirty="0">
              <a:blipFill>
                <a:blip r:embed="rId3"/>
                <a:stretch>
                  <a:fillRect/>
                </a:stretch>
              </a:blip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95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46390" y="5858309"/>
            <a:ext cx="671151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57150" h="38100"/>
            </a:sp3d>
          </a:bodyPr>
          <a:lstStyle/>
          <a:p>
            <a:pPr algn="ctr"/>
            <a:r>
              <a:rPr lang="en-US" sz="4000" dirty="0" err="1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উপরের</a:t>
            </a:r>
            <a:r>
              <a:rPr lang="en-US" sz="4000" dirty="0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ছবি</a:t>
            </a:r>
            <a:r>
              <a:rPr lang="en-US" sz="4000" dirty="0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দেখে</a:t>
            </a:r>
            <a:r>
              <a:rPr lang="en-US" sz="4000" dirty="0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কি</a:t>
            </a:r>
            <a:r>
              <a:rPr lang="en-US" sz="4000" dirty="0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বুঝতে</a:t>
            </a:r>
            <a:r>
              <a:rPr lang="en-US" sz="4000" dirty="0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পারছো</a:t>
            </a:r>
            <a:r>
              <a:rPr lang="en-US" sz="4000" dirty="0" smtClean="0">
                <a:gradFill flip="none" rotWithShape="1">
                  <a:gsLst>
                    <a:gs pos="34000">
                      <a:srgbClr val="05FFF9"/>
                    </a:gs>
                    <a:gs pos="71000">
                      <a:schemeClr val="accent6">
                        <a:lumMod val="75000"/>
                      </a:schemeClr>
                    </a:gs>
                    <a:gs pos="46116">
                      <a:srgbClr val="B586F7"/>
                    </a:gs>
                    <a:gs pos="54000">
                      <a:srgbClr val="FE54F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Nikosh" panose="02000000000000000000" pitchFamily="2" charset="0"/>
                <a:cs typeface="Nikosh" panose="02000000000000000000" pitchFamily="2" charset="0"/>
              </a:rPr>
              <a:t>?</a:t>
            </a:r>
            <a:endParaRPr lang="en-US" sz="4000" dirty="0">
              <a:gradFill flip="none" rotWithShape="1">
                <a:gsLst>
                  <a:gs pos="34000">
                    <a:srgbClr val="05FFF9"/>
                  </a:gs>
                  <a:gs pos="71000">
                    <a:schemeClr val="accent6">
                      <a:lumMod val="75000"/>
                    </a:schemeClr>
                  </a:gs>
                  <a:gs pos="46116">
                    <a:srgbClr val="B586F7"/>
                  </a:gs>
                  <a:gs pos="54000">
                    <a:srgbClr val="FE54F6"/>
                  </a:gs>
                </a:gsLst>
                <a:path path="rect">
                  <a:fillToRect l="100000" t="100000"/>
                </a:path>
                <a:tileRect r="-100000" b="-100000"/>
              </a:gra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BDFBA-2F8C-4179-84AB-F6A1CC83E0E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675" y="1113101"/>
            <a:ext cx="4456590" cy="2783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8876DD-69DD-49B0-8384-53ABD42CC0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744" y="1032819"/>
            <a:ext cx="4412202" cy="29437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F734A4F0-889F-4FFE-8637-09A3B9485A50}"/>
              </a:ext>
            </a:extLst>
          </p:cNvPr>
          <p:cNvSpPr/>
          <p:nvPr/>
        </p:nvSpPr>
        <p:spPr>
          <a:xfrm>
            <a:off x="8414878" y="4487830"/>
            <a:ext cx="2937759" cy="966019"/>
          </a:xfrm>
          <a:prstGeom prst="snip2SameRect">
            <a:avLst/>
          </a:prstGeom>
          <a:blipFill>
            <a:blip r:embed="rId5"/>
            <a:tile tx="0" ty="0" sx="100000" sy="100000" flip="none" algn="tl"/>
          </a:blip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শ</a:t>
            </a:r>
            <a:r>
              <a:rPr lang="as-I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হ</a:t>
            </a:r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</a:p>
        </p:txBody>
      </p:sp>
      <p:sp>
        <p:nvSpPr>
          <p:cNvPr id="7" name="Rectangle: Diagonal Corners Rounded 5">
            <a:extLst>
              <a:ext uri="{FF2B5EF4-FFF2-40B4-BE49-F238E27FC236}">
                <a16:creationId xmlns:a16="http://schemas.microsoft.com/office/drawing/2014/main" id="{275F4447-4879-45F5-A17F-F9838FFCDCEB}"/>
              </a:ext>
            </a:extLst>
          </p:cNvPr>
          <p:cNvSpPr/>
          <p:nvPr/>
        </p:nvSpPr>
        <p:spPr>
          <a:xfrm>
            <a:off x="2372962" y="4418681"/>
            <a:ext cx="3077927" cy="1035168"/>
          </a:xfrm>
          <a:prstGeom prst="round2DiagRect">
            <a:avLst/>
          </a:prstGeom>
          <a:blipFill>
            <a:blip r:embed="rId6"/>
            <a:tile tx="0" ty="0" sx="100000" sy="100000" flip="none" algn="tl"/>
          </a:blipFill>
          <a:ln>
            <a:solidFill>
              <a:srgbClr val="FF0000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blipFill>
                  <a:blip r:embed="rId7"/>
                  <a:tile tx="0" ty="0" sx="100000" sy="100000" flip="none" algn="tl"/>
                </a:blipFill>
                <a:latin typeface="Nikosh" panose="02000000000000000000" pitchFamily="2" charset="0"/>
                <a:cs typeface="Nikosh" panose="02000000000000000000" pitchFamily="2" charset="0"/>
              </a:rPr>
              <a:t>গ</a:t>
            </a:r>
            <a:r>
              <a:rPr lang="as-IN" sz="6600" dirty="0">
                <a:blipFill>
                  <a:blip r:embed="rId7"/>
                  <a:tile tx="0" ty="0" sx="100000" sy="100000" flip="none" algn="tl"/>
                </a:blipFill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en-US" sz="6600" dirty="0">
                <a:blipFill>
                  <a:blip r:embed="rId7"/>
                  <a:tile tx="0" ty="0" sx="100000" sy="100000" flip="none" algn="tl"/>
                </a:blipFill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  <a:r>
              <a:rPr lang="as-IN" sz="6600" dirty="0">
                <a:blipFill>
                  <a:blip r:embed="rId7"/>
                  <a:tile tx="0" ty="0" sx="100000" sy="100000" flip="none" algn="tl"/>
                </a:blip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en-US" sz="6600" dirty="0">
                <a:blipFill>
                  <a:blip r:embed="rId7"/>
                  <a:tile tx="0" ty="0" sx="100000" sy="100000" flip="none" algn="tl"/>
                </a:blipFill>
                <a:latin typeface="Nikosh" panose="02000000000000000000" pitchFamily="2" charset="0"/>
                <a:cs typeface="Nikosh" panose="02000000000000000000" pitchFamily="2" charset="0"/>
              </a:rPr>
              <a:t>ম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D62F0-2974-EB2C-6E64-C831FB491309}"/>
              </a:ext>
            </a:extLst>
          </p:cNvPr>
          <p:cNvSpPr txBox="1"/>
          <p:nvPr/>
        </p:nvSpPr>
        <p:spPr>
          <a:xfrm>
            <a:off x="4208970" y="264540"/>
            <a:ext cx="4146115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n-BD" sz="3600" dirty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এসো কিছু ছবি দেখি</a:t>
            </a:r>
            <a:endParaRPr lang="en-US" sz="3600" dirty="0">
              <a:solidFill>
                <a:srgbClr val="7030A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002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688" y="974110"/>
            <a:ext cx="4255688" cy="32720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72" y="974110"/>
            <a:ext cx="4255688" cy="327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56338" y="4675382"/>
            <a:ext cx="2556769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38100"/>
            </a:sp3d>
          </a:bodyPr>
          <a:lstStyle/>
          <a:p>
            <a:pPr algn="ctr"/>
            <a:r>
              <a:rPr lang="en-US" sz="54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গ্রাম</a:t>
            </a:r>
            <a:endParaRPr lang="en-US" sz="5400" dirty="0">
              <a:solidFill>
                <a:srgbClr val="7030A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29844" y="4675382"/>
            <a:ext cx="2595419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3500" h="38100"/>
            </a:sp3d>
          </a:bodyPr>
          <a:lstStyle/>
          <a:p>
            <a:pPr algn="ctr"/>
            <a:r>
              <a:rPr lang="en-US" sz="5400" dirty="0" smtClean="0">
                <a:solidFill>
                  <a:srgbClr val="7030A0"/>
                </a:solidFill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ও</a:t>
            </a:r>
            <a:r>
              <a:rPr lang="en-US" sz="5400" dirty="0" smtClean="0">
                <a:solidFill>
                  <a:srgbClr val="7030A0"/>
                </a:solidFill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শহর</a:t>
            </a:r>
            <a:endParaRPr lang="en-US" sz="5400" dirty="0">
              <a:solidFill>
                <a:srgbClr val="7030A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7" name="Callout: Down Arrow 1">
            <a:extLst>
              <a:ext uri="{FF2B5EF4-FFF2-40B4-BE49-F238E27FC236}">
                <a16:creationId xmlns:a16="http://schemas.microsoft.com/office/drawing/2014/main" id="{932A9ECD-DCD8-4BE8-83B4-299B01AC3A40}"/>
              </a:ext>
            </a:extLst>
          </p:cNvPr>
          <p:cNvSpPr/>
          <p:nvPr/>
        </p:nvSpPr>
        <p:spPr>
          <a:xfrm>
            <a:off x="7270357" y="1065236"/>
            <a:ext cx="3963972" cy="4727528"/>
          </a:xfrm>
          <a:prstGeom prst="downArrowCallou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আজ</a:t>
            </a:r>
            <a:r>
              <a:rPr lang="en-US" sz="32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b="1" dirty="0" err="1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আমরা</a:t>
            </a:r>
            <a:r>
              <a:rPr lang="en-US" sz="32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b="1" dirty="0" err="1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পড়ব</a:t>
            </a:r>
            <a:r>
              <a:rPr lang="en-US" sz="32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-</a:t>
            </a:r>
          </a:p>
          <a:p>
            <a:pPr algn="ctr"/>
            <a:r>
              <a:rPr lang="en-US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as-IN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en-US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ঠ- ১৭</a:t>
            </a:r>
          </a:p>
          <a:p>
            <a:pPr algn="ctr"/>
            <a:r>
              <a:rPr lang="en-US" sz="4000" b="1" u="sng" dirty="0" err="1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গ্রাম</a:t>
            </a:r>
            <a:r>
              <a:rPr lang="en-US" sz="4000" b="1" u="sng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4000" b="1" u="sng" dirty="0" err="1" smtClean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শহর</a:t>
            </a:r>
            <a:endParaRPr lang="en-US" sz="4000" b="1" u="sng" dirty="0" smtClean="0">
              <a:ln>
                <a:solidFill>
                  <a:srgbClr val="FF0000"/>
                </a:solidFill>
              </a:ln>
              <a:solidFill>
                <a:schemeClr val="accent3">
                  <a:lumMod val="75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algn="ctr"/>
            <a:r>
              <a:rPr lang="en-US" sz="4000" b="1" dirty="0" smtClean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as-IN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ৃ</a:t>
            </a:r>
            <a:r>
              <a:rPr lang="en-US" sz="4000" b="1" dirty="0" err="1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ষ্ঠা</a:t>
            </a:r>
            <a:r>
              <a:rPr lang="en-US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: </a:t>
            </a:r>
            <a:r>
              <a:rPr lang="as-IN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৩</a:t>
            </a:r>
            <a:r>
              <a:rPr lang="en-US" sz="4000" b="1" dirty="0">
                <a:ln>
                  <a:solidFill>
                    <a:srgbClr val="FF0000"/>
                  </a:solidFill>
                </a:ln>
                <a:solidFill>
                  <a:schemeClr val="accent3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৪</a:t>
            </a:r>
          </a:p>
          <a:p>
            <a:pPr algn="ctr"/>
            <a:endParaRPr lang="en-US" sz="4000" b="1" u="sng" dirty="0">
              <a:ln>
                <a:solidFill>
                  <a:srgbClr val="FF0000"/>
                </a:solidFill>
              </a:ln>
              <a:solidFill>
                <a:schemeClr val="accent3">
                  <a:lumMod val="75000"/>
                </a:schemeClr>
              </a:solidFill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50"/>
                            </p:stCondLst>
                            <p:childTnLst>
                              <p:par>
                                <p:cTn id="36" presetID="2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50"/>
                            </p:stCondLst>
                            <p:childTnLst>
                              <p:par>
                                <p:cTn id="5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50"/>
                            </p:stCondLst>
                            <p:childTnLst>
                              <p:par>
                                <p:cTn id="5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250"/>
                            </p:stCondLst>
                            <p:childTnLst>
                              <p:par>
                                <p:cTn id="63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2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250"/>
                            </p:stCondLst>
                            <p:childTnLst>
                              <p:par>
                                <p:cTn id="66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2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 animBg="1"/>
      <p:bldP spid="7" grpId="1" uiExpand="1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63456" y="-108376"/>
            <a:ext cx="46741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 smtClean="0">
                <a:solidFill>
                  <a:srgbClr val="05FFF9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শব্দ</a:t>
            </a:r>
            <a:r>
              <a:rPr lang="en-US" sz="9600" dirty="0" smtClean="0">
                <a:solidFill>
                  <a:srgbClr val="05FFF9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9600" dirty="0" err="1" smtClean="0">
                <a:solidFill>
                  <a:srgbClr val="05FFF9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শিখিঃ</a:t>
            </a:r>
            <a:endParaRPr lang="en-US" sz="9600" dirty="0" smtClean="0">
              <a:solidFill>
                <a:srgbClr val="05FFF9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28608" y="1648802"/>
            <a:ext cx="140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 smtClean="0">
                <a:solidFill>
                  <a:srgbClr val="0005DE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গ্রাম</a:t>
            </a:r>
            <a:endParaRPr lang="en-US" sz="5400" dirty="0">
              <a:solidFill>
                <a:srgbClr val="0005DE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14367" y="1461938"/>
            <a:ext cx="27250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n-BD" sz="4000" dirty="0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পা</a:t>
            </a:r>
            <a:r>
              <a:rPr lang="en-US" sz="4000" dirty="0" err="1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ড়া</a:t>
            </a:r>
            <a:r>
              <a:rPr lang="bn-BD" sz="4000" dirty="0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গাঁ</a:t>
            </a:r>
            <a:r>
              <a:rPr lang="bn-BD" sz="4000" dirty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, ছোট </a:t>
            </a:r>
            <a:r>
              <a:rPr lang="bn-BD" sz="4000" dirty="0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লোকবসতি</a:t>
            </a:r>
            <a:endParaRPr lang="en-US" sz="4000" dirty="0">
              <a:solidFill>
                <a:srgbClr val="C0000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28608" y="3330347"/>
            <a:ext cx="1251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 smtClean="0">
                <a:solidFill>
                  <a:schemeClr val="accent2">
                    <a:lumMod val="7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শহর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39486" y="3368845"/>
            <a:ext cx="3752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BD" sz="3600" dirty="0" smtClean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একটি </a:t>
            </a:r>
            <a:r>
              <a:rPr lang="bn-BD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ঘনবসতিপূর্ণ বৃহৎ পৌর </a:t>
            </a:r>
            <a:r>
              <a:rPr lang="bn-BD" sz="3600" dirty="0" smtClean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এলাকা</a:t>
            </a:r>
            <a:endParaRPr lang="en-US" sz="3600" dirty="0">
              <a:solidFill>
                <a:srgbClr val="00B05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05797" y="5352697"/>
            <a:ext cx="1696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অবাক</a:t>
            </a:r>
            <a:r>
              <a:rPr lang="en-US" sz="5400" dirty="0" smtClean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sz="5400" dirty="0">
              <a:solidFill>
                <a:srgbClr val="00B0F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97683" y="5352697"/>
            <a:ext cx="348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আশ্চর্য</a:t>
            </a:r>
            <a:endParaRPr lang="en-US" sz="3600" dirty="0">
              <a:solidFill>
                <a:srgbClr val="C0000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500" y="1400875"/>
            <a:ext cx="1956072" cy="14191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500" y="3234859"/>
            <a:ext cx="1996941" cy="14683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648" y="5015550"/>
            <a:ext cx="2188793" cy="159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7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mb/>
      </p:transition>
    </mc:Choice>
    <mc:Fallback xmlns=""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0474" y="191342"/>
            <a:ext cx="3875964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শিক্ষকের</a:t>
            </a:r>
            <a:r>
              <a:rPr lang="en-US" sz="40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আদর্শ</a:t>
            </a:r>
            <a:r>
              <a:rPr lang="en-US" sz="40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পাঠ</a:t>
            </a:r>
            <a:endParaRPr lang="en-US" sz="4000" dirty="0">
              <a:solidFill>
                <a:srgbClr val="7030A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53" y="1849274"/>
            <a:ext cx="4726999" cy="40630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9488"/>
            <a:ext cx="1670304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304" y="1737027"/>
            <a:ext cx="4726999" cy="40630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277444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0.42995 0.00255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7826" y="5913059"/>
            <a:ext cx="3862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আমিন</a:t>
            </a:r>
            <a:r>
              <a:rPr lang="en-US" sz="3600" dirty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গ্রামে</a:t>
            </a:r>
            <a:r>
              <a:rPr lang="en-US" sz="3600" dirty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থাকে</a:t>
            </a:r>
            <a:r>
              <a:rPr lang="en-US" sz="3600" dirty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NikoshBAN" panose="02000000000000000000" pitchFamily="2" charset="0"/>
                <a:cs typeface="NikoshBAN" panose="02000000000000000000" pitchFamily="2" charset="0"/>
              </a:rPr>
              <a:t>।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672" y="631375"/>
            <a:ext cx="9075761" cy="51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6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09" y="485567"/>
            <a:ext cx="4230808" cy="39987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388" y="1208664"/>
            <a:ext cx="2531659" cy="2784144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 rot="1707986">
            <a:off x="4640674" y="5332405"/>
            <a:ext cx="3317065" cy="161972"/>
          </a:xfrm>
          <a:prstGeom prst="leftArrow">
            <a:avLst>
              <a:gd name="adj1" fmla="val 100000"/>
              <a:gd name="adj2" fmla="val 61765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 rot="16453709">
            <a:off x="9484386" y="5287001"/>
            <a:ext cx="1576202" cy="167715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3152" y="6068486"/>
            <a:ext cx="10587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শহরে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এসে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সে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অবাক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হয়ে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গেল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শহরে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এত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গাড়ি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,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আর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এত</a:t>
            </a:r>
            <a:r>
              <a:rPr lang="en-US" sz="3600" dirty="0" smtClean="0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মানুষ</a:t>
            </a:r>
            <a:r>
              <a:rPr lang="en-US" sz="3600" dirty="0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! </a:t>
            </a:r>
            <a:endParaRPr lang="en-US" sz="3600" dirty="0">
              <a:solidFill>
                <a:srgbClr val="C0000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18" y="457369"/>
            <a:ext cx="4230808" cy="399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0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0972" y="5475534"/>
            <a:ext cx="9089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চারদিকে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কত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রকমের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দোকান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সেখানে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কত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কিছু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যে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রয়েছ</a:t>
            </a:r>
            <a:r>
              <a:rPr lang="en-US" sz="3600" dirty="0">
                <a:solidFill>
                  <a:srgbClr val="00B0F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!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476" y="499386"/>
            <a:ext cx="4343389" cy="41952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649" y="544223"/>
            <a:ext cx="4343390" cy="4195289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3387911">
            <a:off x="5172928" y="5068257"/>
            <a:ext cx="1208037" cy="2219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5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66949" y="5526678"/>
            <a:ext cx="9880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আমিন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এসেছ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ওর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ফুপুর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বাড়ি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আমিনের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ফুপু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বড়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একটা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দালানে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থাকেন</a:t>
            </a:r>
            <a:r>
              <a:rPr lang="en-US" sz="3600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।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118" y="330023"/>
            <a:ext cx="7929349" cy="4886295"/>
          </a:xfrm>
          <a:prstGeom prst="rect">
            <a:avLst/>
          </a:prstGeom>
        </p:spPr>
      </p:pic>
      <p:sp>
        <p:nvSpPr>
          <p:cNvPr id="5" name="Up Arrow 4"/>
          <p:cNvSpPr/>
          <p:nvPr/>
        </p:nvSpPr>
        <p:spPr>
          <a:xfrm rot="19555558">
            <a:off x="8765471" y="2693004"/>
            <a:ext cx="300969" cy="3278040"/>
          </a:xfrm>
          <a:prstGeom prst="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7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9035" y="5771544"/>
            <a:ext cx="9007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সেই</a:t>
            </a:r>
            <a:r>
              <a:rPr lang="en-US" sz="3600" dirty="0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দালানে</a:t>
            </a:r>
            <a:r>
              <a:rPr lang="en-US" sz="3600" dirty="0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আরো</a:t>
            </a:r>
            <a:r>
              <a:rPr lang="en-US" sz="3600" dirty="0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অনেক</a:t>
            </a:r>
            <a:r>
              <a:rPr lang="en-US" sz="3600" dirty="0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পরিবার</a:t>
            </a:r>
            <a:r>
              <a:rPr lang="en-US" sz="3600" dirty="0" smtClean="0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600" dirty="0" err="1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থাকে</a:t>
            </a:r>
            <a:r>
              <a:rPr lang="en-US" sz="3600" dirty="0" smtClean="0">
                <a:solidFill>
                  <a:schemeClr val="accent6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endParaRPr lang="en-US" sz="3600" dirty="0">
              <a:solidFill>
                <a:schemeClr val="accent6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035" y="347731"/>
            <a:ext cx="4403877" cy="457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264605"/>
            <a:ext cx="437469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5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1714" y="2975928"/>
            <a:ext cx="51224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তোমরা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5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বই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5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এর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 ৩৪ </a:t>
            </a:r>
            <a:r>
              <a:rPr lang="en-US" sz="5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পৃষ্টা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5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বের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5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কর</a:t>
            </a:r>
            <a:r>
              <a:rPr lang="en-US" sz="5400" dirty="0" smtClean="0"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endParaRPr lang="en-US" sz="54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652" y="1234262"/>
            <a:ext cx="5227092" cy="504967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2718192" y="310932"/>
            <a:ext cx="3195484" cy="923330"/>
            <a:chOff x="2934501" y="310932"/>
            <a:chExt cx="3195484" cy="923330"/>
          </a:xfrm>
        </p:grpSpPr>
        <p:sp>
          <p:nvSpPr>
            <p:cNvPr id="8" name="Rounded Rectangle 7"/>
            <p:cNvSpPr/>
            <p:nvPr/>
          </p:nvSpPr>
          <p:spPr>
            <a:xfrm>
              <a:off x="2934501" y="314632"/>
              <a:ext cx="3195484" cy="919630"/>
            </a:xfrm>
            <a:prstGeom prst="roundRect">
              <a:avLst>
                <a:gd name="adj" fmla="val 46603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138306" y="390989"/>
              <a:ext cx="2787873" cy="766916"/>
            </a:xfrm>
            <a:prstGeom prst="roundRect">
              <a:avLst>
                <a:gd name="adj" fmla="val 4660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410410" y="310932"/>
              <a:ext cx="24224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সরব</a:t>
              </a:r>
              <a:r>
                <a:rPr lang="en-US" sz="5400" dirty="0" smtClean="0">
                  <a:latin typeface="Nikosh" panose="02000000000000000000" pitchFamily="2" charset="0"/>
                  <a:cs typeface="Nikosh" panose="02000000000000000000" pitchFamily="2" charset="0"/>
                </a:rPr>
                <a:t> </a:t>
              </a:r>
              <a:r>
                <a:rPr lang="en-US" sz="54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পাঠ</a:t>
              </a:r>
              <a:r>
                <a:rPr lang="en-US" sz="5400" dirty="0" smtClean="0">
                  <a:latin typeface="Nikosh" panose="02000000000000000000" pitchFamily="2" charset="0"/>
                  <a:cs typeface="Nikosh" panose="02000000000000000000" pitchFamily="2" charset="0"/>
                </a:rPr>
                <a:t>  </a:t>
              </a:r>
              <a:endParaRPr lang="en-US" sz="54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219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34280" y="409675"/>
            <a:ext cx="4748366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n-IN" sz="4000" b="1" dirty="0" smtClean="0">
                <a:latin typeface="Nikosh" panose="02000000000000000000" pitchFamily="2" charset="0"/>
                <a:cs typeface="Nikosh" panose="02000000000000000000" pitchFamily="2" charset="0"/>
              </a:rPr>
              <a:t>যুক্তবর্ণ ভেঙ্গে শব্দ শিখি</a:t>
            </a:r>
            <a:endParaRPr lang="en-US" sz="4000" b="1" dirty="0" smtClean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53516" y="1715729"/>
            <a:ext cx="1524000" cy="70788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ন্দ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51744" y="2830377"/>
            <a:ext cx="5334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স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8316" y="2830377"/>
            <a:ext cx="5334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ত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3551744" y="2347415"/>
            <a:ext cx="533400" cy="37087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348316" y="2347415"/>
            <a:ext cx="533400" cy="37087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042423" y="4178955"/>
            <a:ext cx="1023056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শব্দ</a:t>
            </a:r>
            <a:endParaRPr lang="en-US" sz="3200" b="1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116894" y="4271677"/>
            <a:ext cx="400050" cy="38998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510116" y="1639529"/>
            <a:ext cx="1524000" cy="70788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স্ত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27083" y="2732583"/>
            <a:ext cx="5334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ন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44116" y="2732583"/>
            <a:ext cx="5334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দ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72427" y="3972783"/>
            <a:ext cx="1023056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শব্দ</a:t>
            </a:r>
            <a:endParaRPr lang="en-US" sz="3200" b="1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273543" y="4036939"/>
            <a:ext cx="500944" cy="36708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8465938" y="3470675"/>
            <a:ext cx="436033" cy="46495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3983544" y="3564750"/>
            <a:ext cx="533400" cy="37087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149577" y="5542158"/>
            <a:ext cx="1524000" cy="70788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র্ক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08463" y="5542158"/>
            <a:ext cx="5334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ক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80494" y="5542158"/>
            <a:ext cx="5334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sz="4000" b="1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6431292" y="5705601"/>
            <a:ext cx="410280" cy="381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626100" y="4108234"/>
            <a:ext cx="15240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সস্তা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52548" y="4007197"/>
            <a:ext cx="1524000" cy="5232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n-IN" sz="2800" b="1" dirty="0" smtClean="0">
                <a:latin typeface="Nikosh" panose="02000000000000000000" pitchFamily="2" charset="0"/>
                <a:cs typeface="Nikosh" panose="02000000000000000000" pitchFamily="2" charset="0"/>
              </a:rPr>
              <a:t>আনন্দ</a:t>
            </a:r>
            <a:endParaRPr lang="en-US" sz="2800" b="1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91516" y="5542158"/>
            <a:ext cx="152400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অর্ক</a:t>
            </a:r>
            <a:endParaRPr lang="bn-IN" sz="4000" dirty="0" smtClean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144874" y="0"/>
            <a:ext cx="664780" cy="2603887"/>
            <a:chOff x="948457" y="796601"/>
            <a:chExt cx="664780" cy="2603887"/>
          </a:xfrm>
        </p:grpSpPr>
        <p:sp>
          <p:nvSpPr>
            <p:cNvPr id="30" name="Rectangle 29"/>
            <p:cNvSpPr/>
            <p:nvPr/>
          </p:nvSpPr>
          <p:spPr>
            <a:xfrm rot="1942358">
              <a:off x="948457" y="951949"/>
              <a:ext cx="664780" cy="2410047"/>
            </a:xfrm>
            <a:prstGeom prst="rect">
              <a:avLst/>
            </a:prstGeom>
            <a:solidFill>
              <a:srgbClr val="CC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 rot="18306799">
              <a:off x="1186" y="1806157"/>
              <a:ext cx="26038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একক</a:t>
              </a:r>
              <a:r>
                <a:rPr lang="en-US" sz="3200" b="1" dirty="0" smtClean="0">
                  <a:latin typeface="Nikosh" panose="02000000000000000000" pitchFamily="2" charset="0"/>
                  <a:cs typeface="Nikosh" panose="02000000000000000000" pitchFamily="2" charset="0"/>
                </a:rPr>
                <a:t> </a:t>
              </a:r>
              <a:r>
                <a:rPr lang="en-US" sz="3200" b="1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কাজ</a:t>
              </a:r>
              <a:endParaRPr lang="en-US" sz="3200" b="1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sp>
        <p:nvSpPr>
          <p:cNvPr id="34" name="Freeform 33"/>
          <p:cNvSpPr/>
          <p:nvPr/>
        </p:nvSpPr>
        <p:spPr>
          <a:xfrm rot="18479201">
            <a:off x="5113367" y="5802286"/>
            <a:ext cx="267652" cy="45719"/>
          </a:xfrm>
          <a:custGeom>
            <a:avLst/>
            <a:gdLst>
              <a:gd name="connsiteX0" fmla="*/ 587611 w 587611"/>
              <a:gd name="connsiteY0" fmla="*/ 0 h 128759"/>
              <a:gd name="connsiteX1" fmla="*/ 525231 w 587611"/>
              <a:gd name="connsiteY1" fmla="*/ 128759 h 128759"/>
              <a:gd name="connsiteX2" fmla="*/ 0 w 587611"/>
              <a:gd name="connsiteY2" fmla="*/ 128758 h 128759"/>
              <a:gd name="connsiteX3" fmla="*/ 0 w 587611"/>
              <a:gd name="connsiteY3" fmla="*/ 0 h 128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611" h="128759">
                <a:moveTo>
                  <a:pt x="587611" y="0"/>
                </a:moveTo>
                <a:lnTo>
                  <a:pt x="525231" y="128759"/>
                </a:lnTo>
                <a:lnTo>
                  <a:pt x="0" y="12875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3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447144" y="-914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599544" y="157122"/>
            <a:ext cx="8839200" cy="66294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90890" y="0"/>
            <a:ext cx="638780" cy="2088168"/>
            <a:chOff x="659884" y="74423"/>
            <a:chExt cx="646331" cy="2088168"/>
          </a:xfrm>
        </p:grpSpPr>
        <p:sp>
          <p:nvSpPr>
            <p:cNvPr id="2" name="Rectangle 1"/>
            <p:cNvSpPr/>
            <p:nvPr/>
          </p:nvSpPr>
          <p:spPr>
            <a:xfrm rot="18768780">
              <a:off x="-27865" y="790291"/>
              <a:ext cx="2035633" cy="603897"/>
            </a:xfrm>
            <a:prstGeom prst="rect">
              <a:avLst/>
            </a:prstGeom>
            <a:solidFill>
              <a:srgbClr val="FCBA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 rot="18783238">
              <a:off x="-39505" y="816871"/>
              <a:ext cx="20451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দলীয়</a:t>
              </a:r>
              <a:r>
                <a:rPr lang="en-US" sz="3600" dirty="0" smtClean="0">
                  <a:latin typeface="Nikosh" panose="02000000000000000000" pitchFamily="2" charset="0"/>
                  <a:cs typeface="Nikosh" panose="02000000000000000000" pitchFamily="2" charset="0"/>
                </a:rPr>
                <a:t> </a:t>
              </a:r>
              <a:r>
                <a:rPr lang="en-US" sz="36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কাজ</a:t>
              </a:r>
              <a:endParaRPr lang="en-US" sz="36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444670" y="1009793"/>
            <a:ext cx="43434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শব্দ</a:t>
            </a:r>
            <a:r>
              <a:rPr lang="en-US" sz="2800" b="1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দিয়ে</a:t>
            </a:r>
            <a:r>
              <a:rPr lang="en-US" sz="2800" b="1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বাক্য</a:t>
            </a:r>
            <a:r>
              <a:rPr lang="en-US" sz="2800" b="1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তৈরি</a:t>
            </a:r>
            <a:r>
              <a:rPr lang="en-US" sz="2800" b="1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কর</a:t>
            </a:r>
            <a:endParaRPr lang="en-US" sz="2800" b="1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0480" y="1670396"/>
            <a:ext cx="217170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26316" y="329993"/>
            <a:ext cx="381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pc="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উপাস্থাপন</a:t>
            </a:r>
            <a:endParaRPr lang="en-US" sz="2800" b="1" spc="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52044" y="1689593"/>
            <a:ext cx="6934200" cy="1447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23298" y="2229271"/>
            <a:ext cx="461356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ঢাকা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শহর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বাংলাদেশের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রাজধানী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52044" y="5106323"/>
            <a:ext cx="6934200" cy="1447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510480" y="3364957"/>
            <a:ext cx="6934200" cy="1447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77180" y="2220454"/>
            <a:ext cx="17526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শহর</a:t>
            </a:r>
            <a:endParaRPr lang="en-US" sz="24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533900" y="1727200"/>
            <a:ext cx="25400" cy="487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82180" y="3738626"/>
            <a:ext cx="4495800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শহরে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বড়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বড়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দালান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রয়েছে</a:t>
            </a:r>
            <a:r>
              <a:rPr lang="en-US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77180" y="3738626"/>
            <a:ext cx="16764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দালান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77180" y="5593807"/>
            <a:ext cx="16002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পরিবার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6370" y="5621128"/>
            <a:ext cx="4066309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আমরা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যৌথ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পরিবারে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বাস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করি</a:t>
            </a:r>
            <a:r>
              <a:rPr lang="en-US" sz="28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85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20" grpId="0" animBg="1"/>
      <p:bldP spid="17" grpId="0" animBg="1"/>
      <p:bldP spid="21" grpId="0" animBg="1"/>
      <p:bldP spid="18" grpId="0" animBg="1"/>
      <p:bldP spid="19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3396" y="1057164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bn-IN" sz="4000" dirty="0" smtClean="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নিচের শব্দ নিয়ে খালি জায়গা  পূরণ করি 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21982"/>
              </p:ext>
            </p:extLst>
          </p:nvPr>
        </p:nvGraphicFramePr>
        <p:xfrm>
          <a:off x="2563396" y="2126106"/>
          <a:ext cx="7315200" cy="118338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87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3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04370" y="2324843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দোকান </a:t>
            </a:r>
            <a:endParaRPr lang="en-US" sz="3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8419" y="2292842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বাড়ি</a:t>
            </a:r>
            <a:endParaRPr lang="en-US" sz="3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05448" y="2324843"/>
            <a:ext cx="14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গ্রামে </a:t>
            </a:r>
            <a:endParaRPr lang="en-US" sz="3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64992" y="2292842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dirty="0" smtClean="0">
                <a:latin typeface="Nikosh" panose="02000000000000000000" pitchFamily="2" charset="0"/>
                <a:cs typeface="Nikosh" panose="02000000000000000000" pitchFamily="2" charset="0"/>
              </a:rPr>
              <a:t>পরিবার </a:t>
            </a:r>
            <a:endParaRPr lang="en-US" sz="3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21432" y="3757291"/>
            <a:ext cx="723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bn-IN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আমিন</a:t>
            </a:r>
            <a:r>
              <a:rPr lang="en-US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……..</a:t>
            </a:r>
            <a:r>
              <a:rPr lang="en-US" sz="4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IN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থাকে </a:t>
            </a:r>
            <a:r>
              <a:rPr lang="bn-IN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92857" y="4712108"/>
            <a:ext cx="8344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bn-IN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চারদিকে কত রকমের</a:t>
            </a:r>
            <a:r>
              <a:rPr lang="en-US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…….</a:t>
            </a:r>
            <a:r>
              <a:rPr lang="bn-IN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.</a:t>
            </a:r>
            <a:r>
              <a:rPr lang="bn-IN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92857" y="5666925"/>
            <a:ext cx="8199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bn-IN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দালানে আরো অনেক</a:t>
            </a:r>
            <a:r>
              <a:rPr lang="en-US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…….</a:t>
            </a:r>
            <a:r>
              <a:rPr lang="bn-IN" sz="4400" dirty="0" smtClean="0">
                <a:latin typeface="Nikosh" panose="02000000000000000000" pitchFamily="2" charset="0"/>
                <a:cs typeface="Nikosh" panose="02000000000000000000" pitchFamily="2" charset="0"/>
              </a:rPr>
              <a:t>  থাকে </a:t>
            </a:r>
            <a:r>
              <a:rPr lang="bn-IN" sz="32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32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3" name="Plaque 22"/>
          <p:cNvSpPr/>
          <p:nvPr/>
        </p:nvSpPr>
        <p:spPr>
          <a:xfrm>
            <a:off x="4575540" y="240038"/>
            <a:ext cx="2769833" cy="570195"/>
          </a:xfrm>
          <a:prstGeom prst="plaque">
            <a:avLst/>
          </a:prstGeom>
          <a:solidFill>
            <a:srgbClr val="FE54F6"/>
          </a:solidFill>
          <a:ln w="28575">
            <a:solidFill>
              <a:srgbClr val="05FFF9"/>
            </a:solidFill>
          </a:ln>
          <a:effectLst>
            <a:outerShdw blurRad="50800" dist="50800" dir="5400000" algn="ctr" rotWithShape="0">
              <a:srgbClr val="FE54F6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মূল্যায়ন</a:t>
            </a:r>
            <a:r>
              <a:rPr lang="en-US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96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11111E-6 L -0.3586 0.195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30" y="9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11111E-6 L 0.00065 0.33843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0 L 0.32083 0.4847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42" y="2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3" grpId="1"/>
      <p:bldP spid="14" grpId="0"/>
      <p:bldP spid="15" grpId="0"/>
      <p:bldP spid="15" grpId="1"/>
      <p:bldP spid="16" grpId="0"/>
      <p:bldP spid="16" grpId="1"/>
      <p:bldP spid="17" grpId="0"/>
      <p:bldP spid="19" grpId="0"/>
      <p:bldP spid="21" grpId="0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937584" y="-13774"/>
            <a:ext cx="4529687" cy="2484743"/>
            <a:chOff x="4937584" y="-13774"/>
            <a:chExt cx="4529687" cy="2484743"/>
          </a:xfrm>
        </p:grpSpPr>
        <p:sp>
          <p:nvSpPr>
            <p:cNvPr id="3" name="TextBox 2"/>
            <p:cNvSpPr txBox="1"/>
            <p:nvPr/>
          </p:nvSpPr>
          <p:spPr>
            <a:xfrm>
              <a:off x="7342908" y="625273"/>
              <a:ext cx="21243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বাড়ির</a:t>
              </a:r>
              <a:r>
                <a:rPr lang="en-US" sz="4000" dirty="0" smtClean="0">
                  <a:latin typeface="Nikosh" panose="02000000000000000000" pitchFamily="2" charset="0"/>
                  <a:cs typeface="Nikosh" panose="02000000000000000000" pitchFamily="2" charset="0"/>
                </a:rPr>
                <a:t> </a:t>
              </a:r>
              <a:r>
                <a:rPr lang="en-US" sz="40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কাজ</a:t>
              </a:r>
              <a:endParaRPr lang="en-US" sz="4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A06F7B5-4C56-57E6-CEDA-DD93D05A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7584" y="-13774"/>
              <a:ext cx="2868717" cy="2484743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3545616" y="3429000"/>
            <a:ext cx="6503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তোমার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দেখা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গ্রাম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সম্পর্কে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৫টি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বাক্য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লিখে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dirty="0" err="1" smtClean="0">
                <a:latin typeface="Nikosh" panose="02000000000000000000" pitchFamily="2" charset="0"/>
                <a:cs typeface="Nikosh" panose="02000000000000000000" pitchFamily="2" charset="0"/>
              </a:rPr>
              <a:t>আনবে</a:t>
            </a:r>
            <a:r>
              <a:rPr lang="en-US" sz="4000" dirty="0" smtClean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294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0304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" y="0"/>
            <a:ext cx="167030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1D0C5F-B994-4373-9B65-47C213D61F2F}"/>
              </a:ext>
            </a:extLst>
          </p:cNvPr>
          <p:cNvSpPr/>
          <p:nvPr/>
        </p:nvSpPr>
        <p:spPr>
          <a:xfrm>
            <a:off x="7653246" y="1758205"/>
            <a:ext cx="1521304" cy="2972355"/>
          </a:xfrm>
          <a:prstGeom prst="rect">
            <a:avLst/>
          </a:prstGeom>
          <a:solidFill>
            <a:srgbClr val="BC0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E5A20E-1944-4C68-8687-418A86EEC6C5}"/>
              </a:ext>
            </a:extLst>
          </p:cNvPr>
          <p:cNvSpPr/>
          <p:nvPr/>
        </p:nvSpPr>
        <p:spPr>
          <a:xfrm>
            <a:off x="5447707" y="1984630"/>
            <a:ext cx="1521304" cy="2972355"/>
          </a:xfrm>
          <a:prstGeom prst="rect">
            <a:avLst/>
          </a:prstGeom>
          <a:solidFill>
            <a:srgbClr val="0000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A15EC9-E78B-44B2-A036-4D097F908199}"/>
              </a:ext>
            </a:extLst>
          </p:cNvPr>
          <p:cNvSpPr/>
          <p:nvPr/>
        </p:nvSpPr>
        <p:spPr>
          <a:xfrm>
            <a:off x="3118253" y="1758205"/>
            <a:ext cx="1521304" cy="2972355"/>
          </a:xfrm>
          <a:prstGeom prst="rect">
            <a:avLst/>
          </a:prstGeom>
          <a:solidFill>
            <a:srgbClr val="BC7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3BE65-D58D-4BA1-9DA2-6A657DADE280}"/>
              </a:ext>
            </a:extLst>
          </p:cNvPr>
          <p:cNvSpPr/>
          <p:nvPr/>
        </p:nvSpPr>
        <p:spPr>
          <a:xfrm rot="296224">
            <a:off x="1221197" y="2268939"/>
            <a:ext cx="10106025" cy="20377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4000"/>
                </a:schemeClr>
              </a:gs>
              <a:gs pos="77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50800"/>
          </a:effectLst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4D1435-1527-4CD2-B0DA-08FFF781F9B1}"/>
              </a:ext>
            </a:extLst>
          </p:cNvPr>
          <p:cNvSpPr/>
          <p:nvPr/>
        </p:nvSpPr>
        <p:spPr>
          <a:xfrm>
            <a:off x="1712774" y="1647171"/>
            <a:ext cx="485776" cy="496140"/>
          </a:xfrm>
          <a:prstGeom prst="ellipse">
            <a:avLst/>
          </a:prstGeom>
          <a:gradFill>
            <a:gsLst>
              <a:gs pos="0">
                <a:schemeClr val="tx1"/>
              </a:gs>
              <a:gs pos="46000">
                <a:schemeClr val="bg1"/>
              </a:gs>
              <a:gs pos="6800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innerShdw blurRad="63500" dist="2286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65872-B11C-4C96-A1CB-DF18ED207F3A}"/>
              </a:ext>
            </a:extLst>
          </p:cNvPr>
          <p:cNvSpPr/>
          <p:nvPr/>
        </p:nvSpPr>
        <p:spPr>
          <a:xfrm>
            <a:off x="9814747" y="1793354"/>
            <a:ext cx="1521304" cy="2972355"/>
          </a:xfrm>
          <a:prstGeom prst="rect">
            <a:avLst/>
          </a:prstGeom>
          <a:solidFill>
            <a:srgbClr val="2E8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C8738-D871-46E9-92FF-E0D1EBB5454E}"/>
              </a:ext>
            </a:extLst>
          </p:cNvPr>
          <p:cNvSpPr/>
          <p:nvPr/>
        </p:nvSpPr>
        <p:spPr>
          <a:xfrm>
            <a:off x="1147855" y="1808707"/>
            <a:ext cx="10106025" cy="203772"/>
          </a:xfrm>
          <a:prstGeom prst="rect">
            <a:avLst/>
          </a:prstGeom>
          <a:gradFill>
            <a:gsLst>
              <a:gs pos="0">
                <a:schemeClr val="tx1"/>
              </a:gs>
              <a:gs pos="46000">
                <a:schemeClr val="bg1"/>
              </a:gs>
              <a:gs pos="6800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051BB3-4421-47FF-BC85-8C07833E571B}"/>
              </a:ext>
            </a:extLst>
          </p:cNvPr>
          <p:cNvSpPr/>
          <p:nvPr/>
        </p:nvSpPr>
        <p:spPr>
          <a:xfrm>
            <a:off x="11495341" y="1799241"/>
            <a:ext cx="195643" cy="222703"/>
          </a:xfrm>
          <a:prstGeom prst="ellipse">
            <a:avLst/>
          </a:prstGeom>
          <a:gradFill>
            <a:gsLst>
              <a:gs pos="0">
                <a:schemeClr val="tx1"/>
              </a:gs>
              <a:gs pos="46000">
                <a:schemeClr val="bg1"/>
              </a:gs>
              <a:gs pos="6800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A0B200-65AC-4204-8D0A-FBD1F42E1166}"/>
              </a:ext>
            </a:extLst>
          </p:cNvPr>
          <p:cNvGrpSpPr/>
          <p:nvPr/>
        </p:nvGrpSpPr>
        <p:grpSpPr>
          <a:xfrm>
            <a:off x="2124194" y="1756031"/>
            <a:ext cx="2308296" cy="3429555"/>
            <a:chOff x="1706712" y="1040741"/>
            <a:chExt cx="2308296" cy="342955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057DBF-46BD-42B5-9699-A5342181088C}"/>
                </a:ext>
              </a:extLst>
            </p:cNvPr>
            <p:cNvSpPr/>
            <p:nvPr/>
          </p:nvSpPr>
          <p:spPr>
            <a:xfrm>
              <a:off x="1706712" y="1040741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gradFill>
              <a:gsLst>
                <a:gs pos="0">
                  <a:srgbClr val="FF9933"/>
                </a:gs>
                <a:gs pos="100000">
                  <a:srgbClr val="FF99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F448AD-53F8-4628-9E18-C66BC582978F}"/>
                </a:ext>
              </a:extLst>
            </p:cNvPr>
            <p:cNvSpPr txBox="1"/>
            <p:nvPr/>
          </p:nvSpPr>
          <p:spPr>
            <a:xfrm>
              <a:off x="2149410" y="1949147"/>
              <a:ext cx="11990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smtClean="0">
                  <a:latin typeface="Nikosh" panose="02000000000000000000" pitchFamily="2" charset="0"/>
                  <a:cs typeface="Nikosh" panose="02000000000000000000" pitchFamily="2" charset="0"/>
                </a:rPr>
                <a:t>ধ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02FDA7-9D98-4606-A67F-11AB94B1329A}"/>
              </a:ext>
            </a:extLst>
          </p:cNvPr>
          <p:cNvGrpSpPr/>
          <p:nvPr/>
        </p:nvGrpSpPr>
        <p:grpSpPr>
          <a:xfrm>
            <a:off x="4583431" y="1793354"/>
            <a:ext cx="2308296" cy="3429555"/>
            <a:chOff x="4128111" y="1075889"/>
            <a:chExt cx="2308296" cy="3429555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C5814F-9F00-475C-939D-7EFDE28511D0}"/>
                </a:ext>
              </a:extLst>
            </p:cNvPr>
            <p:cNvSpPr/>
            <p:nvPr/>
          </p:nvSpPr>
          <p:spPr>
            <a:xfrm>
              <a:off x="4128111" y="1075889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gradFill>
              <a:gsLst>
                <a:gs pos="0">
                  <a:srgbClr val="0066FF"/>
                </a:gs>
                <a:gs pos="100000">
                  <a:srgbClr val="3399FF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BBBCBB-880B-453D-9494-3182457668F2}"/>
                </a:ext>
              </a:extLst>
            </p:cNvPr>
            <p:cNvSpPr txBox="1"/>
            <p:nvPr/>
          </p:nvSpPr>
          <p:spPr>
            <a:xfrm>
              <a:off x="4653104" y="1919277"/>
              <a:ext cx="10924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ন্য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3442D5-D30E-40D3-ADB7-2B1AE09FD418}"/>
              </a:ext>
            </a:extLst>
          </p:cNvPr>
          <p:cNvGrpSpPr/>
          <p:nvPr/>
        </p:nvGrpSpPr>
        <p:grpSpPr>
          <a:xfrm>
            <a:off x="6955090" y="1758205"/>
            <a:ext cx="2308296" cy="3429555"/>
            <a:chOff x="6499770" y="1040740"/>
            <a:chExt cx="2308296" cy="34295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98051A-C3B2-4267-8798-1458EE97F11C}"/>
                </a:ext>
              </a:extLst>
            </p:cNvPr>
            <p:cNvSpPr/>
            <p:nvPr/>
          </p:nvSpPr>
          <p:spPr>
            <a:xfrm>
              <a:off x="6499770" y="1040740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gradFill>
              <a:gsLst>
                <a:gs pos="0">
                  <a:srgbClr val="FF33CC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D78E76-7D87-475C-87A7-4C2E549FCB1B}"/>
                </a:ext>
              </a:extLst>
            </p:cNvPr>
            <p:cNvSpPr txBox="1"/>
            <p:nvPr/>
          </p:nvSpPr>
          <p:spPr>
            <a:xfrm>
              <a:off x="6987250" y="1946973"/>
              <a:ext cx="118890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err="1" smtClean="0">
                  <a:latin typeface="Nikosh" panose="02000000000000000000" pitchFamily="2" charset="0"/>
                  <a:cs typeface="Nikosh" panose="02000000000000000000" pitchFamily="2" charset="0"/>
                </a:rPr>
                <a:t>বা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EDCF32-FC12-4F93-A567-0FF53A73B22D}"/>
              </a:ext>
            </a:extLst>
          </p:cNvPr>
          <p:cNvGrpSpPr/>
          <p:nvPr/>
        </p:nvGrpSpPr>
        <p:grpSpPr>
          <a:xfrm>
            <a:off x="9091118" y="1793353"/>
            <a:ext cx="2308296" cy="3429555"/>
            <a:chOff x="8635798" y="1075888"/>
            <a:chExt cx="2308296" cy="34295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30A4DB0-5B92-4548-BAAC-57C74FBDABD4}"/>
                </a:ext>
              </a:extLst>
            </p:cNvPr>
            <p:cNvSpPr/>
            <p:nvPr/>
          </p:nvSpPr>
          <p:spPr>
            <a:xfrm>
              <a:off x="8635798" y="1075888"/>
              <a:ext cx="2308296" cy="3429555"/>
            </a:xfrm>
            <a:custGeom>
              <a:avLst/>
              <a:gdLst>
                <a:gd name="connsiteX0" fmla="*/ 271883 w 2122098"/>
                <a:gd name="connsiteY0" fmla="*/ 0 h 3122763"/>
                <a:gd name="connsiteX1" fmla="*/ 2122098 w 2122098"/>
                <a:gd name="connsiteY1" fmla="*/ 0 h 3122763"/>
                <a:gd name="connsiteX2" fmla="*/ 1704037 w 2122098"/>
                <a:gd name="connsiteY2" fmla="*/ 298408 h 3122763"/>
                <a:gd name="connsiteX3" fmla="*/ 1704037 w 2122098"/>
                <a:gd name="connsiteY3" fmla="*/ 3121569 h 3122763"/>
                <a:gd name="connsiteX4" fmla="*/ 845389 w 2122098"/>
                <a:gd name="connsiteY4" fmla="*/ 2864704 h 3122763"/>
                <a:gd name="connsiteX5" fmla="*/ 0 w 2122098"/>
                <a:gd name="connsiteY5" fmla="*/ 3122763 h 3122763"/>
                <a:gd name="connsiteX6" fmla="*/ 0 w 2122098"/>
                <a:gd name="connsiteY6" fmla="*/ 194067 h 3122763"/>
                <a:gd name="connsiteX7" fmla="*/ 271883 w 2122098"/>
                <a:gd name="connsiteY7" fmla="*/ 0 h 312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2098" h="3122763">
                  <a:moveTo>
                    <a:pt x="271883" y="0"/>
                  </a:moveTo>
                  <a:lnTo>
                    <a:pt x="2122098" y="0"/>
                  </a:lnTo>
                  <a:cubicBezTo>
                    <a:pt x="1891210" y="0"/>
                    <a:pt x="1704037" y="133602"/>
                    <a:pt x="1704037" y="298408"/>
                  </a:cubicBezTo>
                  <a:lnTo>
                    <a:pt x="1704037" y="3121569"/>
                  </a:lnTo>
                  <a:lnTo>
                    <a:pt x="845389" y="2864704"/>
                  </a:lnTo>
                  <a:lnTo>
                    <a:pt x="0" y="3122763"/>
                  </a:lnTo>
                  <a:lnTo>
                    <a:pt x="0" y="194067"/>
                  </a:lnTo>
                  <a:cubicBezTo>
                    <a:pt x="0" y="86887"/>
                    <a:pt x="121726" y="0"/>
                    <a:pt x="271883" y="0"/>
                  </a:cubicBez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3B3AFE-90DC-4395-B801-DEB335774502}"/>
                </a:ext>
              </a:extLst>
            </p:cNvPr>
            <p:cNvSpPr txBox="1"/>
            <p:nvPr/>
          </p:nvSpPr>
          <p:spPr>
            <a:xfrm>
              <a:off x="9118366" y="1919276"/>
              <a:ext cx="116985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smtClean="0">
                  <a:latin typeface="Nikosh" panose="02000000000000000000" pitchFamily="2" charset="0"/>
                  <a:cs typeface="Nikosh" panose="02000000000000000000" pitchFamily="2" charset="0"/>
                </a:rPr>
                <a:t>দ</a:t>
              </a:r>
              <a:endParaRPr lang="en-US" sz="8000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8138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305</Words>
  <Application>Microsoft Office PowerPoint</Application>
  <PresentationFormat>Widescreen</PresentationFormat>
  <Paragraphs>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Nikosh</vt:lpstr>
      <vt:lpstr>NikoshBAN</vt:lpstr>
      <vt:lpstr>NikoshLightBAN</vt:lpstr>
      <vt:lpstr>SutonnyMJ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Suchira Islam</dc:creator>
  <cp:lastModifiedBy>Suchira Islam</cp:lastModifiedBy>
  <cp:revision>29</cp:revision>
  <dcterms:created xsi:type="dcterms:W3CDTF">2025-08-30T13:24:31Z</dcterms:created>
  <dcterms:modified xsi:type="dcterms:W3CDTF">2025-09-01T12:46:36Z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11706326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S10.9.0</vt:lpwstr>
  </property>
</Properties>
</file>